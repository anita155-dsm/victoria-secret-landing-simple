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Lato"/>
      <p:bold r:id="rId16"/>
      <p:boldItalic r:id="rId17"/>
    </p:embeddedFont>
    <p:embeddedFont>
      <p:font typeface="Poppins"/>
      <p:bold r:id="rId18"/>
      <p:boldItalic r:id="rId19"/>
    </p:embeddedFont>
    <p:embeddedFont>
      <p:font typeface="Poppins SemiBold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SemiBold-regular.fntdata"/><Relationship Id="rId11" Type="http://schemas.openxmlformats.org/officeDocument/2006/relationships/slide" Target="slides/slide6.xml"/><Relationship Id="rId22" Type="http://schemas.openxmlformats.org/officeDocument/2006/relationships/font" Target="fonts/PoppinsSemiBold-italic.fntdata"/><Relationship Id="rId10" Type="http://schemas.openxmlformats.org/officeDocument/2006/relationships/slide" Target="slides/slide5.xml"/><Relationship Id="rId21" Type="http://schemas.openxmlformats.org/officeDocument/2006/relationships/font" Target="fonts/PoppinsSemiBol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Poppins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Lato-boldItalic.fntdata"/><Relationship Id="rId16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oppins-boldItalic.fntdata"/><Relationship Id="rId6" Type="http://schemas.openxmlformats.org/officeDocument/2006/relationships/slide" Target="slides/slide1.xml"/><Relationship Id="rId18" Type="http://schemas.openxmlformats.org/officeDocument/2006/relationships/font" Target="fonts/Poppi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0.png"/><Relationship Id="rId5" Type="http://schemas.openxmlformats.org/officeDocument/2006/relationships/image" Target="../media/image23.png"/><Relationship Id="rId6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3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3219450" y="1535611"/>
            <a:ext cx="57531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TALLER DE LENGUAJES DE PROGRAMACIÓN III</a:t>
            </a:r>
            <a:endParaRPr b="1" sz="1800">
              <a:solidFill>
                <a:srgbClr val="38BDF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3310680" y="1877406"/>
            <a:ext cx="5570700" cy="147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Python para</a:t>
            </a:r>
            <a:br>
              <a:rPr b="1" lang="en-US" sz="48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lang="en-US" sz="48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Ciencia de Datos</a:t>
            </a:r>
            <a:endParaRPr b="1" sz="4800">
              <a:solidFill>
                <a:srgbClr val="F8FAF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3095625" y="3613699"/>
            <a:ext cx="6000900" cy="24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Introducción al Machine Learning: K-Means (No supervisado)</a:t>
            </a:r>
            <a:endParaRPr b="0" sz="1600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4319588" y="4637770"/>
            <a:ext cx="3552900" cy="23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Prof. Gabriel Acosta </a:t>
            </a:r>
            <a:r>
              <a:rPr b="0" lang="en-US" sz="1500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|</a:t>
            </a:r>
            <a:r>
              <a:rPr b="0" lang="en-US" sz="15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Prof. Dante Benitez</a:t>
            </a:r>
            <a:endParaRPr b="0" sz="1500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00250"/>
            <a:ext cx="52389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71500" y="2190750"/>
            <a:ext cx="52389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K-Means es el algoritmo de </a:t>
            </a:r>
            <a:r>
              <a:rPr b="1" lang="en-US" sz="1500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aprendizaje no supervisado</a:t>
            </a:r>
            <a:r>
              <a:rPr b="0" lang="en-US" sz="15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más utilizado en la ciencia de datos.</a:t>
            </a:r>
            <a:endParaRPr b="0" sz="1500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838200" y="3324225"/>
            <a:ext cx="114300" cy="23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b="0" sz="1500">
              <a:solidFill>
                <a:srgbClr val="38BDF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952500" y="3324225"/>
            <a:ext cx="4857900" cy="23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Objetivo:</a:t>
            </a:r>
            <a:r>
              <a:rPr b="0" lang="en-US" sz="15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Agrupar datos en K clusters distintos.</a:t>
            </a:r>
            <a:endParaRPr b="1" sz="1500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838200" y="3629025"/>
            <a:ext cx="114300" cy="23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b="0" sz="1500">
              <a:solidFill>
                <a:srgbClr val="38BDF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952500" y="3629025"/>
            <a:ext cx="4857900" cy="23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Sin Etiquetas:</a:t>
            </a:r>
            <a:r>
              <a:rPr b="0" lang="en-US" sz="15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No requiere clases objetivo previas.</a:t>
            </a:r>
            <a:endParaRPr b="1" sz="1500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838200" y="3933825"/>
            <a:ext cx="114300" cy="23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b="0" sz="1500">
              <a:solidFill>
                <a:srgbClr val="38BDF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952500" y="3933825"/>
            <a:ext cx="48579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Patrones:</a:t>
            </a:r>
            <a:r>
              <a:rPr b="0" lang="en-US" sz="15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Encuentra estructuras intrínsecas mediante proximidad geométrica.</a:t>
            </a:r>
            <a:endParaRPr b="1" sz="1500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762000" y="571500"/>
            <a:ext cx="114015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00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¿Qué es el Algoritmo K-Means?</a:t>
            </a:r>
            <a:endParaRPr b="0" sz="3000">
              <a:solidFill>
                <a:srgbClr val="F8FAFC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571500" y="571500"/>
            <a:ext cx="5730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81750" y="1723050"/>
            <a:ext cx="5491351" cy="3995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24075"/>
            <a:ext cx="3492600" cy="35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801" y="2124075"/>
            <a:ext cx="3492600" cy="35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102" y="2124075"/>
            <a:ext cx="3492600" cy="35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962025" y="3886200"/>
            <a:ext cx="2711400" cy="923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Representa el promedio matemático (la media) de todas las posiciones de los puntos en un grupo.</a:t>
            </a:r>
            <a:endParaRPr b="0" sz="1500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4740326" y="3886200"/>
            <a:ext cx="2711400" cy="69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Determina la cercanía de un punto a un grupo utilizando una métrica de distancia espacial.</a:t>
            </a:r>
            <a:endParaRPr b="0" sz="1500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8518627" y="3886200"/>
            <a:ext cx="2711400" cy="923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Funciona en múltiples dimensiones, evaluando características simultáneamente.</a:t>
            </a:r>
            <a:endParaRPr b="0" sz="1500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762000" y="571500"/>
            <a:ext cx="114015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00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Mecánica del Algoritmo</a:t>
            </a:r>
            <a:endParaRPr b="0" sz="3000">
              <a:solidFill>
                <a:srgbClr val="F8FAFC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571500" y="571500"/>
            <a:ext cx="5730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94237" y="3295650"/>
            <a:ext cx="2847000" cy="323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Centroide</a:t>
            </a:r>
            <a:endParaRPr b="1" sz="2100">
              <a:solidFill>
                <a:srgbClr val="38BDF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4672536" y="3295650"/>
            <a:ext cx="2847000" cy="323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Proximidad</a:t>
            </a:r>
            <a:endParaRPr b="1" sz="2100">
              <a:solidFill>
                <a:srgbClr val="38BDF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8450837" y="3295650"/>
            <a:ext cx="2847000" cy="323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Espacio N-D</a:t>
            </a:r>
            <a:endParaRPr b="1" sz="2100">
              <a:solidFill>
                <a:srgbClr val="38BDF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18" name="Google Shape;118;p15"/>
          <p:cNvGrpSpPr/>
          <p:nvPr/>
        </p:nvGrpSpPr>
        <p:grpSpPr>
          <a:xfrm>
            <a:off x="2085975" y="2606040"/>
            <a:ext cx="8039100" cy="457200"/>
            <a:chOff x="2085975" y="2606040"/>
            <a:chExt cx="8039100" cy="457200"/>
          </a:xfrm>
        </p:grpSpPr>
        <p:sp>
          <p:nvSpPr>
            <p:cNvPr id="119" name="Google Shape;119;p15"/>
            <p:cNvSpPr txBox="1"/>
            <p:nvPr/>
          </p:nvSpPr>
          <p:spPr>
            <a:xfrm>
              <a:off x="2085975" y="260604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adjust</a:t>
              </a:r>
              <a:endParaRPr sz="30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20" name="Google Shape;120;p15"/>
            <p:cNvSpPr txBox="1"/>
            <p:nvPr/>
          </p:nvSpPr>
          <p:spPr>
            <a:xfrm>
              <a:off x="5867400" y="260604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straighten</a:t>
              </a:r>
              <a:endParaRPr sz="30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21" name="Google Shape;121;p15"/>
            <p:cNvSpPr txBox="1"/>
            <p:nvPr/>
          </p:nvSpPr>
          <p:spPr>
            <a:xfrm>
              <a:off x="9667875" y="260604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grid_4x4</a:t>
              </a:r>
              <a:endParaRPr sz="30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6"/>
          <p:cNvPicPr preferRelativeResize="0"/>
          <p:nvPr/>
        </p:nvPicPr>
        <p:blipFill rotWithShape="1">
          <a:blip r:embed="rId4">
            <a:alphaModFix/>
          </a:blip>
          <a:srcRect b="90" l="0" r="0" t="80"/>
          <a:stretch/>
        </p:blipFill>
        <p:spPr>
          <a:xfrm>
            <a:off x="571500" y="2250577"/>
            <a:ext cx="5238900" cy="330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/>
          <p:cNvPicPr preferRelativeResize="0"/>
          <p:nvPr/>
        </p:nvPicPr>
        <p:blipFill rotWithShape="1">
          <a:blip r:embed="rId4">
            <a:alphaModFix/>
          </a:blip>
          <a:srcRect b="90" l="0" r="0" t="80"/>
          <a:stretch/>
        </p:blipFill>
        <p:spPr>
          <a:xfrm>
            <a:off x="6381750" y="2250577"/>
            <a:ext cx="5238900" cy="330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962025" y="3231652"/>
            <a:ext cx="44577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Para un punto (P) y un centroide (C) en un espacio de (n) dimensiones:</a:t>
            </a:r>
            <a:endParaRPr b="0" sz="1500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6772275" y="3231652"/>
            <a:ext cx="44577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El algoritmo busca minimizar la suma de las distancias al cuadrado entre cada punto y su centroide asignado.</a:t>
            </a:r>
            <a:endParaRPr b="0" sz="1500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6772275" y="4031752"/>
            <a:ext cx="4457700" cy="23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Inercia o Within-Cluster Sum of Squares (WCSS).</a:t>
            </a:r>
            <a:endParaRPr b="1" sz="1500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762000" y="571500"/>
            <a:ext cx="114015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00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La Distancia Euclidiana</a:t>
            </a:r>
            <a:endParaRPr b="0" sz="3000">
              <a:solidFill>
                <a:srgbClr val="F8FAFC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571500" y="571500"/>
            <a:ext cx="5730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962025" y="2641102"/>
            <a:ext cx="4680600" cy="323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Cálculo de Cercanía</a:t>
            </a:r>
            <a:endParaRPr b="1" sz="2100">
              <a:solidFill>
                <a:srgbClr val="38BDF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6772275" y="2641102"/>
            <a:ext cx="4680600" cy="323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Optimización</a:t>
            </a:r>
            <a:endParaRPr b="1" sz="2100">
              <a:solidFill>
                <a:srgbClr val="38BDF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5" name="Google Shape;13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95200" y="4466850"/>
            <a:ext cx="4411999" cy="67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62100" y="4413913"/>
            <a:ext cx="4257700" cy="67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/>
          <p:nvPr/>
        </p:nvSpPr>
        <p:spPr>
          <a:xfrm>
            <a:off x="571500" y="3905250"/>
            <a:ext cx="11049000" cy="87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689400" y="3198146"/>
            <a:ext cx="24306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Selección de K y colocación aleatoria de centroides.</a:t>
            </a:r>
            <a:endParaRPr sz="1500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3444189" y="4901373"/>
            <a:ext cx="24306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Cada punto se une al centroide más cercano.</a:t>
            </a:r>
            <a:endParaRPr sz="1500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6377622" y="3198150"/>
            <a:ext cx="24306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Los centroides se mueven al promedio real del grupo.</a:t>
            </a:r>
            <a:endParaRPr sz="1500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5" name="Google Shape;145;p17"/>
          <p:cNvSpPr txBox="1"/>
          <p:nvPr/>
        </p:nvSpPr>
        <p:spPr>
          <a:xfrm>
            <a:off x="9128764" y="4901375"/>
            <a:ext cx="24306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El proceso se repite hasta que no hay cambios.</a:t>
            </a:r>
            <a:endParaRPr sz="1500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762000" y="571500"/>
            <a:ext cx="114015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00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Ciclo de Entrenamiento</a:t>
            </a:r>
            <a:endParaRPr b="0" sz="3000">
              <a:solidFill>
                <a:srgbClr val="F8FAFC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571500" y="571500"/>
            <a:ext cx="5730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1729655" y="280485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4545206" y="4563448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7417880" y="280485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10290524" y="4563448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628658" y="2406975"/>
            <a:ext cx="2552100" cy="323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1. Inicialización</a:t>
            </a:r>
            <a:endParaRPr b="1" sz="2100">
              <a:solidFill>
                <a:srgbClr val="38BDF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3383442" y="4131030"/>
            <a:ext cx="2552100" cy="323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2. Asignación</a:t>
            </a:r>
            <a:endParaRPr b="1" sz="2100">
              <a:solidFill>
                <a:srgbClr val="38BDF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6256134" y="2406971"/>
            <a:ext cx="2552100" cy="323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3. Actualización</a:t>
            </a:r>
            <a:endParaRPr b="1" sz="2100">
              <a:solidFill>
                <a:srgbClr val="38BDF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9068020" y="4116299"/>
            <a:ext cx="2552100" cy="323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4. Convergencia</a:t>
            </a:r>
            <a:endParaRPr b="1" sz="2100">
              <a:solidFill>
                <a:srgbClr val="38BDF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8120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571500" y="2171700"/>
            <a:ext cx="5238900" cy="213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88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El algoritmo se detiene cuando ocurre una de estas condiciones:</a:t>
            </a:r>
            <a:endParaRPr b="0" sz="1388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3" name="Google Shape;163;p18"/>
          <p:cNvSpPr txBox="1"/>
          <p:nvPr/>
        </p:nvSpPr>
        <p:spPr>
          <a:xfrm>
            <a:off x="1000125" y="3000375"/>
            <a:ext cx="4810200" cy="23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Los centroides ya no cambian de posición.</a:t>
            </a:r>
            <a:endParaRPr b="0" sz="1500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1000125" y="3543300"/>
            <a:ext cx="4810200" cy="23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Las asignaciones de los puntos ya no varían.</a:t>
            </a:r>
            <a:endParaRPr b="0" sz="1500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1000125" y="4086225"/>
            <a:ext cx="4810200" cy="23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Se alcanza el número máximo de iteraciones.</a:t>
            </a:r>
            <a:endParaRPr b="0" sz="1500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image.png" id="166" name="Google Shape;16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0384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5814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124325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762000" y="571500"/>
            <a:ext cx="114015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00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Convergencia del Modelo</a:t>
            </a:r>
            <a:endParaRPr b="0" sz="3000">
              <a:solidFill>
                <a:srgbClr val="F8FAFC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571500" y="571500"/>
            <a:ext cx="5730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1" name="Google Shape;171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31950" y="1534247"/>
            <a:ext cx="5738350" cy="43419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2" name="Google Shape;172;p18"/>
          <p:cNvGrpSpPr/>
          <p:nvPr/>
        </p:nvGrpSpPr>
        <p:grpSpPr>
          <a:xfrm>
            <a:off x="571500" y="4762500"/>
            <a:ext cx="5238900" cy="1143000"/>
            <a:chOff x="571500" y="4762500"/>
            <a:chExt cx="5238900" cy="1143000"/>
          </a:xfrm>
        </p:grpSpPr>
        <p:sp>
          <p:nvSpPr>
            <p:cNvPr id="173" name="Google Shape;173;p18"/>
            <p:cNvSpPr/>
            <p:nvPr/>
          </p:nvSpPr>
          <p:spPr>
            <a:xfrm>
              <a:off x="571500" y="4762500"/>
              <a:ext cx="5238900" cy="1143000"/>
            </a:xfrm>
            <a:prstGeom prst="roundRect">
              <a:avLst>
                <a:gd fmla="val 1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8"/>
            <p:cNvSpPr txBox="1"/>
            <p:nvPr/>
          </p:nvSpPr>
          <p:spPr>
            <a:xfrm>
              <a:off x="762000" y="4953000"/>
              <a:ext cx="4857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38BDF8"/>
                  </a:solidFill>
                  <a:latin typeface="Lato"/>
                  <a:ea typeface="Lato"/>
                  <a:cs typeface="Lato"/>
                  <a:sym typeface="Lato"/>
                </a:rPr>
                <a:t>Dato: </a:t>
              </a:r>
              <a:r>
                <a:rPr b="0" lang="en-US" sz="1400">
                  <a:solidFill>
                    <a:srgbClr val="94A3B8"/>
                  </a:solidFill>
                  <a:latin typeface="Lato"/>
                  <a:ea typeface="Lato"/>
                  <a:cs typeface="Lato"/>
                  <a:sym typeface="Lato"/>
                </a:rPr>
                <a:t>Scikit-learn usa k-means++ para mejorar la inicialización.</a:t>
              </a:r>
              <a:endParaRPr b="1" sz="1400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9"/>
          <p:cNvPicPr preferRelativeResize="0"/>
          <p:nvPr/>
        </p:nvPicPr>
        <p:blipFill rotWithShape="1">
          <a:blip r:embed="rId4">
            <a:alphaModFix/>
          </a:blip>
          <a:srcRect b="0" l="11010" r="11018" t="0"/>
          <a:stretch/>
        </p:blipFill>
        <p:spPr>
          <a:xfrm>
            <a:off x="571500" y="2276475"/>
            <a:ext cx="3492600" cy="3257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0" name="Google Shape;180;p19"/>
          <p:cNvPicPr preferRelativeResize="0"/>
          <p:nvPr/>
        </p:nvPicPr>
        <p:blipFill rotWithShape="1">
          <a:blip r:embed="rId4">
            <a:alphaModFix/>
          </a:blip>
          <a:srcRect b="0" l="11010" r="11018" t="0"/>
          <a:stretch/>
        </p:blipFill>
        <p:spPr>
          <a:xfrm>
            <a:off x="4349801" y="2276475"/>
            <a:ext cx="3492600" cy="3257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1" name="Google Shape;181;p19"/>
          <p:cNvPicPr preferRelativeResize="0"/>
          <p:nvPr/>
        </p:nvPicPr>
        <p:blipFill rotWithShape="1">
          <a:blip r:embed="rId4">
            <a:alphaModFix/>
          </a:blip>
          <a:srcRect b="0" l="11010" r="11018" t="0"/>
          <a:stretch/>
        </p:blipFill>
        <p:spPr>
          <a:xfrm>
            <a:off x="8128102" y="2276475"/>
            <a:ext cx="3492600" cy="3257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2" name="Google Shape;182;p19"/>
          <p:cNvSpPr txBox="1"/>
          <p:nvPr/>
        </p:nvSpPr>
        <p:spPr>
          <a:xfrm>
            <a:off x="962025" y="4038600"/>
            <a:ext cx="2711400" cy="69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Complejidad lineal (O</a:t>
            </a:r>
            <a:r>
              <a:rPr lang="en-US" sz="15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r>
              <a:rPr b="0" lang="en-US" sz="15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. Sumamente rápido en grandes datasets.</a:t>
            </a:r>
            <a:endParaRPr b="0" sz="1500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3" name="Google Shape;183;p19"/>
          <p:cNvSpPr txBox="1"/>
          <p:nvPr/>
        </p:nvSpPr>
        <p:spPr>
          <a:xfrm>
            <a:off x="4740326" y="4038600"/>
            <a:ext cx="2711400" cy="69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Lógica fácil de explicar a perfiles no técnicos e implementar en producción.</a:t>
            </a:r>
            <a:endParaRPr b="0" sz="1500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4" name="Google Shape;184;p19"/>
          <p:cNvSpPr txBox="1"/>
          <p:nvPr/>
        </p:nvSpPr>
        <p:spPr>
          <a:xfrm>
            <a:off x="8518627" y="4038600"/>
            <a:ext cx="2711400" cy="69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Convergencia garantizada mediante el algoritmo de Lloyd hacia un óptimo local.</a:t>
            </a:r>
            <a:endParaRPr b="0" sz="1500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image.png" id="185" name="Google Shape;18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17675" y="2714625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67400" y="27146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17124" y="2714625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9"/>
          <p:cNvSpPr txBox="1"/>
          <p:nvPr/>
        </p:nvSpPr>
        <p:spPr>
          <a:xfrm>
            <a:off x="762000" y="571500"/>
            <a:ext cx="114015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00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Ventajas Competitivas</a:t>
            </a:r>
            <a:endParaRPr b="0" sz="3000">
              <a:solidFill>
                <a:srgbClr val="F8FAFC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571500" y="571500"/>
            <a:ext cx="5730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894237" y="3448050"/>
            <a:ext cx="2847000" cy="323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Eficiencia</a:t>
            </a:r>
            <a:endParaRPr b="1" sz="2100">
              <a:solidFill>
                <a:srgbClr val="38BDF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4672536" y="3448050"/>
            <a:ext cx="2847000" cy="323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Intuición</a:t>
            </a:r>
            <a:endParaRPr b="1" sz="2100">
              <a:solidFill>
                <a:srgbClr val="38BDF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2" name="Google Shape;192;p19"/>
          <p:cNvSpPr txBox="1"/>
          <p:nvPr/>
        </p:nvSpPr>
        <p:spPr>
          <a:xfrm>
            <a:off x="8450837" y="3448050"/>
            <a:ext cx="2847000" cy="323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Estabilidad</a:t>
            </a:r>
            <a:endParaRPr b="1" sz="2100">
              <a:solidFill>
                <a:srgbClr val="38BDF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05100"/>
            <a:ext cx="5238900" cy="24003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9" name="Google Shape;19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705100"/>
            <a:ext cx="5238900" cy="24003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0" name="Google Shape;200;p20"/>
          <p:cNvSpPr txBox="1"/>
          <p:nvPr/>
        </p:nvSpPr>
        <p:spPr>
          <a:xfrm>
            <a:off x="1228725" y="3648075"/>
            <a:ext cx="114300" cy="23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sz="1500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1343025" y="3648075"/>
            <a:ext cx="4076700" cy="23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Selección manual de K (el modelo es "ciego").</a:t>
            </a:r>
            <a:endParaRPr sz="1500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1228725" y="3952875"/>
            <a:ext cx="114300" cy="23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sz="1500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1343025" y="3952875"/>
            <a:ext cx="4076700" cy="213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88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Extrema sensibilidad a la inicialización aleatoria.</a:t>
            </a:r>
            <a:endParaRPr sz="1388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7038975" y="3648075"/>
            <a:ext cx="114300" cy="23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sz="1500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7153275" y="3648075"/>
            <a:ext cx="4076700" cy="23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Incapacidad para formas no esféricas o anillos.</a:t>
            </a:r>
            <a:endParaRPr sz="1500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7038975" y="3952875"/>
            <a:ext cx="114300" cy="23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sz="1500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7153275" y="3952875"/>
            <a:ext cx="40767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Impacto desproporcionado de Outliers (valores atípicos).</a:t>
            </a:r>
            <a:endParaRPr sz="1500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762000" y="571500"/>
            <a:ext cx="114015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00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Limitaciones y Desafíos</a:t>
            </a:r>
            <a:endParaRPr b="0" sz="3000">
              <a:solidFill>
                <a:srgbClr val="F8FAFC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571500" y="571500"/>
            <a:ext cx="5730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962025" y="3095625"/>
            <a:ext cx="4680600" cy="323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Sensibilidad</a:t>
            </a:r>
            <a:endParaRPr b="1" sz="2100">
              <a:solidFill>
                <a:srgbClr val="38BDF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6772275" y="3095625"/>
            <a:ext cx="4680600" cy="323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Restricciones</a:t>
            </a:r>
            <a:endParaRPr b="1" sz="2100">
              <a:solidFill>
                <a:srgbClr val="38BDF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/>
          <p:nvPr/>
        </p:nvSpPr>
        <p:spPr>
          <a:xfrm>
            <a:off x="571500" y="571500"/>
            <a:ext cx="5730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762000" y="571500"/>
            <a:ext cx="10668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96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Casos de Uso: Segmentación y Detección de Anomalías</a:t>
            </a:r>
            <a:endParaRPr b="0" sz="2960">
              <a:solidFill>
                <a:srgbClr val="F8FAFC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762000" y="13335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Uso clásico empresarial para descubrir estructuras automáticas en la base de datos:</a:t>
            </a:r>
            <a:endParaRPr b="0" sz="1600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20" name="Google Shape;220;p21"/>
          <p:cNvGrpSpPr/>
          <p:nvPr/>
        </p:nvGrpSpPr>
        <p:grpSpPr>
          <a:xfrm>
            <a:off x="762000" y="2095500"/>
            <a:ext cx="3429000" cy="3429000"/>
            <a:chOff x="762000" y="2095500"/>
            <a:chExt cx="3429000" cy="3429000"/>
          </a:xfrm>
        </p:grpSpPr>
        <p:sp>
          <p:nvSpPr>
            <p:cNvPr id="221" name="Google Shape;221;p21"/>
            <p:cNvSpPr/>
            <p:nvPr/>
          </p:nvSpPr>
          <p:spPr>
            <a:xfrm>
              <a:off x="762000" y="2095500"/>
              <a:ext cx="3429000" cy="3429000"/>
            </a:xfrm>
            <a:prstGeom prst="roundRect">
              <a:avLst>
                <a:gd fmla="val 4444" name="adj"/>
              </a:avLst>
            </a:prstGeom>
            <a:solidFill>
              <a:srgbClr val="0F172A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1"/>
            <p:cNvSpPr txBox="1"/>
            <p:nvPr/>
          </p:nvSpPr>
          <p:spPr>
            <a:xfrm>
              <a:off x="1047750" y="2493705"/>
              <a:ext cx="571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7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groups</a:t>
              </a:r>
              <a:endParaRPr b="0" sz="37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23" name="Google Shape;223;p21"/>
            <p:cNvSpPr txBox="1"/>
            <p:nvPr/>
          </p:nvSpPr>
          <p:spPr>
            <a:xfrm>
              <a:off x="1047750" y="3143250"/>
              <a:ext cx="2857500" cy="2095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38BDF8"/>
                  </a:solidFill>
                  <a:latin typeface="Poppins"/>
                  <a:ea typeface="Poppins"/>
                  <a:cs typeface="Poppins"/>
                  <a:sym typeface="Poppins"/>
                </a:rPr>
                <a:t>Segmentación</a:t>
              </a:r>
              <a:endParaRPr b="1" sz="220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94A3B8"/>
                  </a:solidFill>
                  <a:latin typeface="Lato"/>
                  <a:ea typeface="Lato"/>
                  <a:cs typeface="Lato"/>
                  <a:sym typeface="Lato"/>
                </a:rPr>
                <a:t>Identificación de grupos de clientes con comportamientos similares.</a:t>
              </a:r>
              <a:endParaRPr b="0" sz="15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750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F1F5F9"/>
                </a:buClr>
                <a:buSzPts val="1400"/>
                <a:buFont typeface="Lato"/>
                <a:buChar char="●"/>
              </a:pPr>
              <a:r>
                <a:rPr b="0" lang="en-US" sz="1400">
                  <a:solidFill>
                    <a:srgbClr val="F1F5F9"/>
                  </a:solidFill>
                  <a:latin typeface="Lato"/>
                  <a:ea typeface="Lato"/>
                  <a:cs typeface="Lato"/>
                  <a:sym typeface="Lato"/>
                </a:rPr>
                <a:t>Clientes VIP (Alto valor)</a:t>
              </a:r>
              <a:endParaRPr b="0" sz="1400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F1F5F9"/>
                </a:buClr>
                <a:buSzPts val="1400"/>
                <a:buFont typeface="Lato"/>
                <a:buChar char="●"/>
              </a:pPr>
              <a:r>
                <a:rPr b="0" lang="en-US" sz="1400">
                  <a:solidFill>
                    <a:srgbClr val="F1F5F9"/>
                  </a:solidFill>
                  <a:latin typeface="Lato"/>
                  <a:ea typeface="Lato"/>
                  <a:cs typeface="Lato"/>
                  <a:sym typeface="Lato"/>
                </a:rPr>
                <a:t>Clientes Esporádicos</a:t>
              </a:r>
              <a:endParaRPr b="0" sz="1400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24" name="Google Shape;224;p21"/>
          <p:cNvGrpSpPr/>
          <p:nvPr/>
        </p:nvGrpSpPr>
        <p:grpSpPr>
          <a:xfrm>
            <a:off x="4381500" y="2095500"/>
            <a:ext cx="3429000" cy="3429000"/>
            <a:chOff x="4381500" y="2095500"/>
            <a:chExt cx="3429000" cy="3429000"/>
          </a:xfrm>
        </p:grpSpPr>
        <p:sp>
          <p:nvSpPr>
            <p:cNvPr id="225" name="Google Shape;225;p21"/>
            <p:cNvSpPr/>
            <p:nvPr/>
          </p:nvSpPr>
          <p:spPr>
            <a:xfrm>
              <a:off x="4381500" y="2095500"/>
              <a:ext cx="3429000" cy="3429000"/>
            </a:xfrm>
            <a:prstGeom prst="roundRect">
              <a:avLst>
                <a:gd fmla="val 4444" name="adj"/>
              </a:avLst>
            </a:prstGeom>
            <a:solidFill>
              <a:srgbClr val="0F172A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1"/>
            <p:cNvSpPr txBox="1"/>
            <p:nvPr/>
          </p:nvSpPr>
          <p:spPr>
            <a:xfrm>
              <a:off x="4667250" y="2493705"/>
              <a:ext cx="571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7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search</a:t>
              </a:r>
              <a:endParaRPr b="0" sz="37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27" name="Google Shape;227;p21"/>
            <p:cNvSpPr txBox="1"/>
            <p:nvPr/>
          </p:nvSpPr>
          <p:spPr>
            <a:xfrm>
              <a:off x="4667250" y="3143250"/>
              <a:ext cx="2857500" cy="2095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38BDF8"/>
                  </a:solidFill>
                  <a:latin typeface="Poppins"/>
                  <a:ea typeface="Poppins"/>
                  <a:cs typeface="Poppins"/>
                  <a:sym typeface="Poppins"/>
                </a:rPr>
                <a:t>Anomalías</a:t>
              </a:r>
              <a:endParaRPr b="1" sz="220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94A3B8"/>
                  </a:solidFill>
                  <a:latin typeface="Lato"/>
                  <a:ea typeface="Lato"/>
                  <a:cs typeface="Lato"/>
                  <a:sym typeface="Lato"/>
                </a:rPr>
                <a:t>Detección de patrones inusuales o fraudes en tiempo real.</a:t>
              </a:r>
              <a:endParaRPr b="0" sz="15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750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F1F5F9"/>
                </a:buClr>
                <a:buSzPts val="1400"/>
                <a:buFont typeface="Lato"/>
                <a:buChar char="●"/>
              </a:pPr>
              <a:r>
                <a:rPr b="0" lang="en-US" sz="1400">
                  <a:solidFill>
                    <a:srgbClr val="F1F5F9"/>
                  </a:solidFill>
                  <a:latin typeface="Lato"/>
                  <a:ea typeface="Lato"/>
                  <a:cs typeface="Lato"/>
                  <a:sym typeface="Lato"/>
                </a:rPr>
                <a:t>Transacciones sospechosas</a:t>
              </a:r>
              <a:endParaRPr b="0" sz="1400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F1F5F9"/>
                </a:buClr>
                <a:buSzPts val="1400"/>
                <a:buFont typeface="Lato"/>
                <a:buChar char="●"/>
              </a:pPr>
              <a:r>
                <a:rPr b="0" lang="en-US" sz="1400">
                  <a:solidFill>
                    <a:srgbClr val="F1F5F9"/>
                  </a:solidFill>
                  <a:latin typeface="Lato"/>
                  <a:ea typeface="Lato"/>
                  <a:cs typeface="Lato"/>
                  <a:sym typeface="Lato"/>
                </a:rPr>
                <a:t>Fallas en maquinaria</a:t>
              </a:r>
              <a:endParaRPr b="0" sz="1400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28" name="Google Shape;228;p21"/>
          <p:cNvGrpSpPr/>
          <p:nvPr/>
        </p:nvGrpSpPr>
        <p:grpSpPr>
          <a:xfrm>
            <a:off x="8001000" y="2095500"/>
            <a:ext cx="3429000" cy="3429000"/>
            <a:chOff x="8001000" y="2095500"/>
            <a:chExt cx="3429000" cy="3429000"/>
          </a:xfrm>
        </p:grpSpPr>
        <p:sp>
          <p:nvSpPr>
            <p:cNvPr id="229" name="Google Shape;229;p21"/>
            <p:cNvSpPr/>
            <p:nvPr/>
          </p:nvSpPr>
          <p:spPr>
            <a:xfrm>
              <a:off x="8001000" y="2095500"/>
              <a:ext cx="3429000" cy="3429000"/>
            </a:xfrm>
            <a:prstGeom prst="roundRect">
              <a:avLst>
                <a:gd fmla="val 4444" name="adj"/>
              </a:avLst>
            </a:prstGeom>
            <a:solidFill>
              <a:srgbClr val="0F172A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21"/>
            <p:cNvSpPr txBox="1"/>
            <p:nvPr/>
          </p:nvSpPr>
          <p:spPr>
            <a:xfrm>
              <a:off x="8286750" y="2493705"/>
              <a:ext cx="571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700">
                  <a:solidFill>
                    <a:srgbClr val="F43F5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chat</a:t>
              </a:r>
              <a:endParaRPr b="0" sz="3700">
                <a:solidFill>
                  <a:srgbClr val="F43F5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31" name="Google Shape;231;p21"/>
            <p:cNvSpPr txBox="1"/>
            <p:nvPr/>
          </p:nvSpPr>
          <p:spPr>
            <a:xfrm>
              <a:off x="8286750" y="3143250"/>
              <a:ext cx="2857500" cy="2095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F43F5E"/>
                  </a:solidFill>
                  <a:latin typeface="Poppins"/>
                  <a:ea typeface="Poppins"/>
                  <a:cs typeface="Poppins"/>
                  <a:sym typeface="Poppins"/>
                </a:rPr>
                <a:t>NLP Básico</a:t>
              </a:r>
              <a:endParaRPr b="1" sz="2200">
                <a:solidFill>
                  <a:srgbClr val="F43F5E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94A3B8"/>
                  </a:solidFill>
                  <a:latin typeface="Lato"/>
                  <a:ea typeface="Lato"/>
                  <a:cs typeface="Lato"/>
                  <a:sym typeface="Lato"/>
                </a:rPr>
                <a:t>Agrupación de documentos o mensajes por temática.</a:t>
              </a:r>
              <a:endParaRPr b="0" sz="15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750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F1F5F9"/>
                </a:buClr>
                <a:buSzPts val="1400"/>
                <a:buFont typeface="Lato"/>
                <a:buChar char="●"/>
              </a:pPr>
              <a:r>
                <a:rPr b="0" lang="en-US" sz="1400">
                  <a:solidFill>
                    <a:srgbClr val="F1F5F9"/>
                  </a:solidFill>
                  <a:latin typeface="Lato"/>
                  <a:ea typeface="Lato"/>
                  <a:cs typeface="Lato"/>
                  <a:sym typeface="Lato"/>
                </a:rPr>
                <a:t>Categorización de tickets</a:t>
              </a:r>
              <a:endParaRPr b="0" sz="1400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F1F5F9"/>
                </a:buClr>
                <a:buSzPts val="1400"/>
                <a:buFont typeface="Lato"/>
                <a:buChar char="●"/>
              </a:pPr>
              <a:r>
                <a:rPr b="0" lang="en-US" sz="1400">
                  <a:solidFill>
                    <a:srgbClr val="F1F5F9"/>
                  </a:solidFill>
                  <a:latin typeface="Lato"/>
                  <a:ea typeface="Lato"/>
                  <a:cs typeface="Lato"/>
                  <a:sym typeface="Lato"/>
                </a:rPr>
                <a:t>Análisis de sentimientos</a:t>
              </a:r>
              <a:endParaRPr b="0" sz="1400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571500" y="2286000"/>
            <a:ext cx="110490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Taller de Lenguajes de Programación III - Python para Ciencia de Datos</a:t>
            </a:r>
            <a:endParaRPr b="0" sz="1800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571500" y="3619500"/>
            <a:ext cx="11049000" cy="23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Gabriel Acosta | Dante Benitez</a:t>
            </a:r>
            <a:endParaRPr b="0" sz="1500">
              <a:solidFill>
                <a:srgbClr val="F8FAF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571500" y="4000500"/>
            <a:ext cx="11049000" cy="23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Visualizador K-Means: k-means-visualizerr.netlify.app </a:t>
            </a:r>
            <a:endParaRPr b="0" sz="1500">
              <a:solidFill>
                <a:srgbClr val="38BDF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0" name="Google Shape;240;p22"/>
          <p:cNvSpPr txBox="1"/>
          <p:nvPr/>
        </p:nvSpPr>
        <p:spPr>
          <a:xfrm>
            <a:off x="295275" y="952500"/>
            <a:ext cx="11601600" cy="985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40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¿Preguntas?</a:t>
            </a:r>
            <a:endParaRPr b="1" sz="6400">
              <a:solidFill>
                <a:srgbClr val="38BDF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